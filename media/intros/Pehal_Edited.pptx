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handoutMasters/handoutMaster1.xml" ContentType="application/vnd.openxmlformats-officedocument.presentationml.handoutMaster+xml"/>
  <Override PartName="/ppt/theme/theme4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diagrams/layout1.xml" ContentType="application/vnd.openxmlformats-officedocument.drawingml.diagramLayout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colors1.xml" ContentType="application/vnd.openxmlformats-officedocument.drawingml.diagramColors+xml"/>
  <Override PartName="/ppt/diagrams/quickStyle1.xml" ContentType="application/vnd.openxmlformats-officedocument.drawingml.diagramStyl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48" r:id="rId1"/>
    <p:sldMasterId id="2147483649" r:id="rId2"/>
  </p:sldMasterIdLst>
  <p:notesMasterIdLst>
    <p:notesMasterId r:id="rId3"/>
  </p:notesMasterIdLst>
  <p:handoutMasterIdLst>
    <p:handoutMasterId r:id="rId4"/>
  </p:handout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type="screen4x3" cy="6858000" cx="9144000"/>
  <p:notesSz cx="6858000" cy="9144000"/>
  <p:defaultTextStyle>
    <a:defPPr>
      <a:defRPr lang="en-US"/>
    </a:defPPr>
    <a:lvl1pPr algn="ctr" fontAlgn="base" rtl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algn="ctr" fontAlgn="base" marL="457200" rtl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algn="ctr" fontAlgn="base" marL="914400" rtl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algn="ctr" fontAlgn="base" marL="1371600" rtl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algn="ctr" fontAlgn="base" marL="1828800" rtl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algn="l" defTabSz="914400" eaLnBrk="1" hangingPunct="1" latinLnBrk="0" marL="2286000" rtl="0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algn="l" defTabSz="914400" eaLnBrk="1" hangingPunct="1" latinLnBrk="0" marL="2743200" rtl="0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algn="l" defTabSz="914400" eaLnBrk="1" hangingPunct="1" latinLnBrk="0" marL="3200400" rtl="0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algn="l" defTabSz="914400" eaLnBrk="1" hangingPunct="1" latinLnBrk="0" marL="3657600" rtl="0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1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notesMaster" Target="notesMasters/notesMaster1.xml"/><Relationship Id="rId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tableStyles" Target="tableStyles.xml"/><Relationship Id="rId19" Type="http://schemas.openxmlformats.org/officeDocument/2006/relationships/presProps" Target="presProps.xml"/><Relationship Id="rId2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85BA6A1-24E3-4D95-9877-57ED4C223D8C}" type="doc">
      <dgm:prSet loTypeId="urn:microsoft.com/office/officeart/2005/8/layout/v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EDDB8D6-9BF1-4AED-AD73-7E7CF794044D}">
      <dgm:prSet phldrT="[Text]"/>
      <dgm:spPr/>
      <dgm:t>
        <a:bodyPr/>
        <a:lstStyle/>
        <a:p>
          <a:r>
            <a:rPr lang="en-US" dirty="0" smtClean="0"/>
            <a:t>What we need:</a:t>
          </a:r>
          <a:endParaRPr lang="en-US" dirty="0"/>
        </a:p>
      </dgm:t>
    </dgm:pt>
    <dgm:pt modelId="{6D2D0A0F-BC6C-460F-8E67-C73BD0389370}" type="parTrans" cxnId="{CEA45CC2-07C2-49BC-BF3B-58A2A6695356}">
      <dgm:prSet/>
      <dgm:spPr/>
      <dgm:t>
        <a:bodyPr/>
        <a:lstStyle/>
        <a:p>
          <a:endParaRPr lang="en-US"/>
        </a:p>
      </dgm:t>
    </dgm:pt>
    <dgm:pt modelId="{31BA18EB-60FE-46D8-9648-AA6CB6AD1F7F}" type="sibTrans" cxnId="{CEA45CC2-07C2-49BC-BF3B-58A2A6695356}">
      <dgm:prSet/>
      <dgm:spPr/>
      <dgm:t>
        <a:bodyPr/>
        <a:lstStyle/>
        <a:p>
          <a:endParaRPr lang="en-US"/>
        </a:p>
      </dgm:t>
    </dgm:pt>
    <dgm:pt modelId="{94630DD3-C43C-4141-A136-FE0DBCBB8F67}">
      <dgm:prSet phldrT="[Text]"/>
      <dgm:spPr/>
      <dgm:t>
        <a:bodyPr/>
        <a:lstStyle/>
        <a:p>
          <a:r>
            <a:rPr lang="en-US" dirty="0" smtClean="0"/>
            <a:t>Laundry services</a:t>
          </a:r>
          <a:endParaRPr lang="en-US" dirty="0"/>
        </a:p>
      </dgm:t>
    </dgm:pt>
    <dgm:pt modelId="{22CA1033-66A4-4852-BADD-08B94EEE9006}" type="parTrans" cxnId="{7C4D29A3-5530-4E40-8A28-A01126E6C52F}">
      <dgm:prSet/>
      <dgm:spPr/>
      <dgm:t>
        <a:bodyPr/>
        <a:lstStyle/>
        <a:p>
          <a:endParaRPr lang="en-US"/>
        </a:p>
      </dgm:t>
    </dgm:pt>
    <dgm:pt modelId="{3415A031-259E-4208-A5DB-CD1441F82087}" type="sibTrans" cxnId="{7C4D29A3-5530-4E40-8A28-A01126E6C52F}">
      <dgm:prSet/>
      <dgm:spPr/>
      <dgm:t>
        <a:bodyPr/>
        <a:lstStyle/>
        <a:p>
          <a:endParaRPr lang="en-US"/>
        </a:p>
      </dgm:t>
    </dgm:pt>
    <dgm:pt modelId="{E8AD0588-30E8-4E69-8501-6FA167AA17FD}">
      <dgm:prSet phldrT="[Text]"/>
      <dgm:spPr/>
      <dgm:t>
        <a:bodyPr/>
        <a:lstStyle/>
        <a:p>
          <a:r>
            <a:rPr lang="en-US" dirty="0" smtClean="0"/>
            <a:t>Affordable pricing</a:t>
          </a:r>
          <a:endParaRPr lang="en-US" dirty="0"/>
        </a:p>
      </dgm:t>
    </dgm:pt>
    <dgm:pt modelId="{EBF89066-1E80-45B5-89A3-682AD20F8D58}" type="parTrans" cxnId="{F6D6484A-9D55-4B28-8B57-07044C92883D}">
      <dgm:prSet/>
      <dgm:spPr/>
      <dgm:t>
        <a:bodyPr/>
        <a:lstStyle/>
        <a:p>
          <a:endParaRPr lang="en-US"/>
        </a:p>
      </dgm:t>
    </dgm:pt>
    <dgm:pt modelId="{CD81B83E-4AFD-4381-A494-376C3219B41E}" type="sibTrans" cxnId="{F6D6484A-9D55-4B28-8B57-07044C92883D}">
      <dgm:prSet/>
      <dgm:spPr/>
      <dgm:t>
        <a:bodyPr/>
        <a:lstStyle/>
        <a:p>
          <a:endParaRPr lang="en-US"/>
        </a:p>
      </dgm:t>
    </dgm:pt>
    <dgm:pt modelId="{68800436-E463-4588-9C11-A3D21CDF722E}">
      <dgm:prSet phldrT="[Text]"/>
      <dgm:spPr/>
      <dgm:t>
        <a:bodyPr/>
        <a:lstStyle/>
        <a:p>
          <a:r>
            <a:rPr lang="en-US" dirty="0" smtClean="0"/>
            <a:t>What the less-privileged women need:</a:t>
          </a:r>
          <a:endParaRPr lang="en-US" dirty="0"/>
        </a:p>
      </dgm:t>
    </dgm:pt>
    <dgm:pt modelId="{E3671085-2DA5-46E1-9B3C-29A7C9690FB0}" type="parTrans" cxnId="{F728D10B-5AAB-445D-ABB3-628000BB44A4}">
      <dgm:prSet/>
      <dgm:spPr/>
      <dgm:t>
        <a:bodyPr/>
        <a:lstStyle/>
        <a:p>
          <a:endParaRPr lang="en-US"/>
        </a:p>
      </dgm:t>
    </dgm:pt>
    <dgm:pt modelId="{B28C0C61-7277-453D-8F32-5B2D737C8216}" type="sibTrans" cxnId="{F728D10B-5AAB-445D-ABB3-628000BB44A4}">
      <dgm:prSet/>
      <dgm:spPr/>
      <dgm:t>
        <a:bodyPr/>
        <a:lstStyle/>
        <a:p>
          <a:endParaRPr lang="en-US"/>
        </a:p>
      </dgm:t>
    </dgm:pt>
    <dgm:pt modelId="{15380B35-4FFB-448C-8F5C-EB4EFBBFCBB4}">
      <dgm:prSet phldrT="[Text]"/>
      <dgm:spPr/>
      <dgm:t>
        <a:bodyPr/>
        <a:lstStyle/>
        <a:p>
          <a:r>
            <a:rPr lang="en-US" dirty="0" smtClean="0"/>
            <a:t>Financial stability</a:t>
          </a:r>
          <a:endParaRPr lang="en-US" dirty="0"/>
        </a:p>
      </dgm:t>
    </dgm:pt>
    <dgm:pt modelId="{E8DB553C-2D95-4BA3-A3E3-A97CED9C8BC3}" type="parTrans" cxnId="{80FE8D5A-2567-40C2-9396-AD2472701B63}">
      <dgm:prSet/>
      <dgm:spPr/>
      <dgm:t>
        <a:bodyPr/>
        <a:lstStyle/>
        <a:p>
          <a:endParaRPr lang="en-US"/>
        </a:p>
      </dgm:t>
    </dgm:pt>
    <dgm:pt modelId="{2B72520D-EAD2-46D1-85BD-E27822CAFDB8}" type="sibTrans" cxnId="{80FE8D5A-2567-40C2-9396-AD2472701B63}">
      <dgm:prSet/>
      <dgm:spPr/>
      <dgm:t>
        <a:bodyPr/>
        <a:lstStyle/>
        <a:p>
          <a:endParaRPr lang="en-US"/>
        </a:p>
      </dgm:t>
    </dgm:pt>
    <dgm:pt modelId="{4D55F2FC-5CEA-4A7F-992B-BDD84AE924EB}">
      <dgm:prSet phldrT="[Text]"/>
      <dgm:spPr/>
      <dgm:t>
        <a:bodyPr/>
        <a:lstStyle/>
        <a:p>
          <a:r>
            <a:rPr lang="en-US" dirty="0" smtClean="0"/>
            <a:t>Moral support</a:t>
          </a:r>
          <a:endParaRPr lang="en-US" dirty="0"/>
        </a:p>
      </dgm:t>
    </dgm:pt>
    <dgm:pt modelId="{C1E6EFCA-8B2D-4C95-A41D-5FD211ADBFDC}" type="parTrans" cxnId="{BC2703E4-5F3C-4D96-B93C-6B545B49CF32}">
      <dgm:prSet/>
      <dgm:spPr/>
      <dgm:t>
        <a:bodyPr/>
        <a:lstStyle/>
        <a:p>
          <a:endParaRPr lang="en-US"/>
        </a:p>
      </dgm:t>
    </dgm:pt>
    <dgm:pt modelId="{C0A96755-17FE-44AF-A6D1-EC32779748FF}" type="sibTrans" cxnId="{BC2703E4-5F3C-4D96-B93C-6B545B49CF32}">
      <dgm:prSet/>
      <dgm:spPr/>
      <dgm:t>
        <a:bodyPr/>
        <a:lstStyle/>
        <a:p>
          <a:endParaRPr lang="en-US"/>
        </a:p>
      </dgm:t>
    </dgm:pt>
    <dgm:pt modelId="{2EB437D0-873A-4BAC-8A3B-4D96D58FC4BE}" type="pres">
      <dgm:prSet presAssocID="{C85BA6A1-24E3-4D95-9877-57ED4C223D8C}" presName="Name0" presStyleCnt="0">
        <dgm:presLayoutVars>
          <dgm:dir/>
          <dgm:animLvl val="lvl"/>
          <dgm:resizeHandles/>
        </dgm:presLayoutVars>
      </dgm:prSet>
      <dgm:spPr/>
    </dgm:pt>
    <dgm:pt modelId="{184FC76E-2859-474A-A718-0C1B22A4FFFE}" type="pres">
      <dgm:prSet presAssocID="{6EDDB8D6-9BF1-4AED-AD73-7E7CF794044D}" presName="linNode" presStyleCnt="0"/>
      <dgm:spPr/>
    </dgm:pt>
    <dgm:pt modelId="{B5592E49-67BE-46C3-AB5E-CB7D3DC71FDA}" type="pres">
      <dgm:prSet presAssocID="{6EDDB8D6-9BF1-4AED-AD73-7E7CF794044D}" presName="parentShp" presStyleLbl="node1" presStyleIdx="0" presStyleCnt="2">
        <dgm:presLayoutVars>
          <dgm:bulletEnabled val="1"/>
        </dgm:presLayoutVars>
      </dgm:prSet>
      <dgm:spPr/>
    </dgm:pt>
    <dgm:pt modelId="{6FE6D688-C63F-44AD-BE7E-4701D4F9C1FD}" type="pres">
      <dgm:prSet presAssocID="{6EDDB8D6-9BF1-4AED-AD73-7E7CF794044D}" presName="childShp" presStyleLbl="bgAccFollowNode1" presStyleIdx="0" presStyleCnt="2">
        <dgm:presLayoutVars>
          <dgm:bulletEnabled val="1"/>
        </dgm:presLayoutVars>
      </dgm:prSet>
      <dgm:spPr/>
    </dgm:pt>
    <dgm:pt modelId="{FB1F41D0-DB87-408D-9FE5-CA62BD50EF6D}" type="pres">
      <dgm:prSet presAssocID="{31BA18EB-60FE-46D8-9648-AA6CB6AD1F7F}" presName="spacing" presStyleCnt="0"/>
      <dgm:spPr/>
    </dgm:pt>
    <dgm:pt modelId="{C9F3B1E0-DAA6-4DAF-879D-48F396C9B295}" type="pres">
      <dgm:prSet presAssocID="{68800436-E463-4588-9C11-A3D21CDF722E}" presName="linNode" presStyleCnt="0"/>
      <dgm:spPr/>
    </dgm:pt>
    <dgm:pt modelId="{4C562DD7-B751-4266-A706-E62BE3513D52}" type="pres">
      <dgm:prSet presAssocID="{68800436-E463-4588-9C11-A3D21CDF722E}" presName="parentShp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A176A54-C0C6-410F-AD16-A3D1940CD0CB}" type="pres">
      <dgm:prSet presAssocID="{68800436-E463-4588-9C11-A3D21CDF722E}" presName="childShp" presStyleLbl="bgAccFollowNode1" presStyleIdx="1" presStyleCnt="2">
        <dgm:presLayoutVars>
          <dgm:bulletEnabled val="1"/>
        </dgm:presLayoutVars>
      </dgm:prSet>
      <dgm:spPr/>
    </dgm:pt>
  </dgm:ptLst>
  <dgm:cxnLst>
    <dgm:cxn modelId="{96FB54C9-6910-47A9-865A-7C02BB12520F}" type="presOf" srcId="{C85BA6A1-24E3-4D95-9877-57ED4C223D8C}" destId="{2EB437D0-873A-4BAC-8A3B-4D96D58FC4BE}" srcOrd="0" destOrd="0" presId="urn:microsoft.com/office/officeart/2005/8/layout/vList6"/>
    <dgm:cxn modelId="{E0335B4A-50F2-4CC6-A48D-307618738615}" type="presOf" srcId="{15380B35-4FFB-448C-8F5C-EB4EFBBFCBB4}" destId="{BA176A54-C0C6-410F-AD16-A3D1940CD0CB}" srcOrd="0" destOrd="0" presId="urn:microsoft.com/office/officeart/2005/8/layout/vList6"/>
    <dgm:cxn modelId="{F1CC1EC1-ED1E-4ABA-B770-DEF63BD5C96A}" type="presOf" srcId="{94630DD3-C43C-4141-A136-FE0DBCBB8F67}" destId="{6FE6D688-C63F-44AD-BE7E-4701D4F9C1FD}" srcOrd="0" destOrd="0" presId="urn:microsoft.com/office/officeart/2005/8/layout/vList6"/>
    <dgm:cxn modelId="{F6D6484A-9D55-4B28-8B57-07044C92883D}" srcId="{6EDDB8D6-9BF1-4AED-AD73-7E7CF794044D}" destId="{E8AD0588-30E8-4E69-8501-6FA167AA17FD}" srcOrd="1" destOrd="0" parTransId="{EBF89066-1E80-45B5-89A3-682AD20F8D58}" sibTransId="{CD81B83E-4AFD-4381-A494-376C3219B41E}"/>
    <dgm:cxn modelId="{7C4D29A3-5530-4E40-8A28-A01126E6C52F}" srcId="{6EDDB8D6-9BF1-4AED-AD73-7E7CF794044D}" destId="{94630DD3-C43C-4141-A136-FE0DBCBB8F67}" srcOrd="0" destOrd="0" parTransId="{22CA1033-66A4-4852-BADD-08B94EEE9006}" sibTransId="{3415A031-259E-4208-A5DB-CD1441F82087}"/>
    <dgm:cxn modelId="{0717B02E-4886-45B7-B1E2-FA7CE9ECFD30}" type="presOf" srcId="{E8AD0588-30E8-4E69-8501-6FA167AA17FD}" destId="{6FE6D688-C63F-44AD-BE7E-4701D4F9C1FD}" srcOrd="0" destOrd="1" presId="urn:microsoft.com/office/officeart/2005/8/layout/vList6"/>
    <dgm:cxn modelId="{BC2703E4-5F3C-4D96-B93C-6B545B49CF32}" srcId="{68800436-E463-4588-9C11-A3D21CDF722E}" destId="{4D55F2FC-5CEA-4A7F-992B-BDD84AE924EB}" srcOrd="1" destOrd="0" parTransId="{C1E6EFCA-8B2D-4C95-A41D-5FD211ADBFDC}" sibTransId="{C0A96755-17FE-44AF-A6D1-EC32779748FF}"/>
    <dgm:cxn modelId="{F728D10B-5AAB-445D-ABB3-628000BB44A4}" srcId="{C85BA6A1-24E3-4D95-9877-57ED4C223D8C}" destId="{68800436-E463-4588-9C11-A3D21CDF722E}" srcOrd="1" destOrd="0" parTransId="{E3671085-2DA5-46E1-9B3C-29A7C9690FB0}" sibTransId="{B28C0C61-7277-453D-8F32-5B2D737C8216}"/>
    <dgm:cxn modelId="{CEA45CC2-07C2-49BC-BF3B-58A2A6695356}" srcId="{C85BA6A1-24E3-4D95-9877-57ED4C223D8C}" destId="{6EDDB8D6-9BF1-4AED-AD73-7E7CF794044D}" srcOrd="0" destOrd="0" parTransId="{6D2D0A0F-BC6C-460F-8E67-C73BD0389370}" sibTransId="{31BA18EB-60FE-46D8-9648-AA6CB6AD1F7F}"/>
    <dgm:cxn modelId="{A7C74F61-024F-470F-AE43-A9E6620B2EA4}" type="presOf" srcId="{6EDDB8D6-9BF1-4AED-AD73-7E7CF794044D}" destId="{B5592E49-67BE-46C3-AB5E-CB7D3DC71FDA}" srcOrd="0" destOrd="0" presId="urn:microsoft.com/office/officeart/2005/8/layout/vList6"/>
    <dgm:cxn modelId="{9BEFBF7B-C783-48E5-8F93-417CB74A7A5C}" type="presOf" srcId="{4D55F2FC-5CEA-4A7F-992B-BDD84AE924EB}" destId="{BA176A54-C0C6-410F-AD16-A3D1940CD0CB}" srcOrd="0" destOrd="1" presId="urn:microsoft.com/office/officeart/2005/8/layout/vList6"/>
    <dgm:cxn modelId="{223EA983-BE3E-4076-958E-29E0939D18A2}" type="presOf" srcId="{68800436-E463-4588-9C11-A3D21CDF722E}" destId="{4C562DD7-B751-4266-A706-E62BE3513D52}" srcOrd="0" destOrd="0" presId="urn:microsoft.com/office/officeart/2005/8/layout/vList6"/>
    <dgm:cxn modelId="{80FE8D5A-2567-40C2-9396-AD2472701B63}" srcId="{68800436-E463-4588-9C11-A3D21CDF722E}" destId="{15380B35-4FFB-448C-8F5C-EB4EFBBFCBB4}" srcOrd="0" destOrd="0" parTransId="{E8DB553C-2D95-4BA3-A3E3-A97CED9C8BC3}" sibTransId="{2B72520D-EAD2-46D1-85BD-E27822CAFDB8}"/>
    <dgm:cxn modelId="{2AF33D96-3214-4DCD-9FD8-97A983E537E6}" type="presParOf" srcId="{2EB437D0-873A-4BAC-8A3B-4D96D58FC4BE}" destId="{184FC76E-2859-474A-A718-0C1B22A4FFFE}" srcOrd="0" destOrd="0" presId="urn:microsoft.com/office/officeart/2005/8/layout/vList6"/>
    <dgm:cxn modelId="{34A1A598-C5A6-470C-ACB6-448055B8AC9A}" type="presParOf" srcId="{184FC76E-2859-474A-A718-0C1B22A4FFFE}" destId="{B5592E49-67BE-46C3-AB5E-CB7D3DC71FDA}" srcOrd="0" destOrd="0" presId="urn:microsoft.com/office/officeart/2005/8/layout/vList6"/>
    <dgm:cxn modelId="{E17FDF50-8327-4ED4-8020-1980F7734FCA}" type="presParOf" srcId="{184FC76E-2859-474A-A718-0C1B22A4FFFE}" destId="{6FE6D688-C63F-44AD-BE7E-4701D4F9C1FD}" srcOrd="1" destOrd="0" presId="urn:microsoft.com/office/officeart/2005/8/layout/vList6"/>
    <dgm:cxn modelId="{9F328BDE-C1D4-4360-A059-7FAC1A4FD595}" type="presParOf" srcId="{2EB437D0-873A-4BAC-8A3B-4D96D58FC4BE}" destId="{FB1F41D0-DB87-408D-9FE5-CA62BD50EF6D}" srcOrd="1" destOrd="0" presId="urn:microsoft.com/office/officeart/2005/8/layout/vList6"/>
    <dgm:cxn modelId="{260BC83B-1E48-46E9-82F1-E71843CA0880}" type="presParOf" srcId="{2EB437D0-873A-4BAC-8A3B-4D96D58FC4BE}" destId="{C9F3B1E0-DAA6-4DAF-879D-48F396C9B295}" srcOrd="2" destOrd="0" presId="urn:microsoft.com/office/officeart/2005/8/layout/vList6"/>
    <dgm:cxn modelId="{94C3B6ED-7709-43FA-99F3-97FCBA37D31D}" type="presParOf" srcId="{C9F3B1E0-DAA6-4DAF-879D-48F396C9B295}" destId="{4C562DD7-B751-4266-A706-E62BE3513D52}" srcOrd="0" destOrd="0" presId="urn:microsoft.com/office/officeart/2005/8/layout/vList6"/>
    <dgm:cxn modelId="{15D42915-0485-4A91-AB80-CE73835F703B}" type="presParOf" srcId="{C9F3B1E0-DAA6-4DAF-879D-48F396C9B295}" destId="{BA176A54-C0C6-410F-AD16-A3D1940CD0CB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xmlns="" relId="rId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6FE6D688-C63F-44AD-BE7E-4701D4F9C1FD}">
      <dsp:nvSpPr>
        <dsp:cNvPr id="0" name=""/>
        <dsp:cNvSpPr/>
      </dsp:nvSpPr>
      <dsp:spPr>
        <a:xfrm>
          <a:off x="1676399" y="257"/>
          <a:ext cx="2514600" cy="1003659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Laundry services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Affordable pricing</a:t>
          </a:r>
          <a:endParaRPr lang="en-US" sz="1900" kern="1200" dirty="0"/>
        </a:p>
      </dsp:txBody>
      <dsp:txXfrm>
        <a:off x="1676399" y="257"/>
        <a:ext cx="2514600" cy="1003659"/>
      </dsp:txXfrm>
    </dsp:sp>
    <dsp:sp modelId="{B5592E49-67BE-46C3-AB5E-CB7D3DC71FDA}">
      <dsp:nvSpPr>
        <dsp:cNvPr id="0" name=""/>
        <dsp:cNvSpPr/>
      </dsp:nvSpPr>
      <dsp:spPr>
        <a:xfrm>
          <a:off x="0" y="257"/>
          <a:ext cx="1676400" cy="10036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What we need:</a:t>
          </a:r>
          <a:endParaRPr lang="en-US" sz="1700" kern="1200" dirty="0"/>
        </a:p>
      </dsp:txBody>
      <dsp:txXfrm>
        <a:off x="0" y="257"/>
        <a:ext cx="1676400" cy="1003659"/>
      </dsp:txXfrm>
    </dsp:sp>
    <dsp:sp modelId="{BA176A54-C0C6-410F-AD16-A3D1940CD0CB}">
      <dsp:nvSpPr>
        <dsp:cNvPr id="0" name=""/>
        <dsp:cNvSpPr/>
      </dsp:nvSpPr>
      <dsp:spPr>
        <a:xfrm>
          <a:off x="1676400" y="1104282"/>
          <a:ext cx="2514600" cy="1003659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Financial stability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Moral support</a:t>
          </a:r>
          <a:endParaRPr lang="en-US" sz="1900" kern="1200" dirty="0"/>
        </a:p>
      </dsp:txBody>
      <dsp:txXfrm>
        <a:off x="1676400" y="1104282"/>
        <a:ext cx="2514600" cy="1003659"/>
      </dsp:txXfrm>
    </dsp:sp>
    <dsp:sp modelId="{4C562DD7-B751-4266-A706-E62BE3513D52}">
      <dsp:nvSpPr>
        <dsp:cNvPr id="0" name=""/>
        <dsp:cNvSpPr/>
      </dsp:nvSpPr>
      <dsp:spPr>
        <a:xfrm>
          <a:off x="0" y="1104282"/>
          <a:ext cx="1676400" cy="10036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What the less-privileged women need:</a:t>
          </a:r>
          <a:endParaRPr lang="en-US" sz="1700" kern="1200" dirty="0"/>
        </a:p>
      </dsp:txBody>
      <dsp:txXfrm>
        <a:off x="0" y="1104282"/>
        <a:ext cx="1676400" cy="10036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</p:bgPr>
    </p:bg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20" compatLnSpc="1" lIns="91440" numCol="1" rIns="91440" tIns="45720" vert="horz" wrap="square">
            <a:prstTxWarp prst="textNoShape"/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20" compatLnSpc="1" lIns="91440" numCol="1" rIns="91440" tIns="45720" vert="horz" wrap="square">
            <a:prstTxWarp prst="textNoShape"/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0487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20" compatLnSpc="1" lIns="91440" numCol="1" rIns="91440" tIns="45720" vert="horz" wrap="square">
            <a:prstTxWarp prst="textNoShape"/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20" compatLnSpc="1" lIns="91440" numCol="1" rIns="91440" tIns="45720" vert="horz" wrap="square">
            <a:prstTxWarp prst="textNoShape"/>
          </a:bodyPr>
          <a:lstStyle>
            <a:lvl1pPr algn="r">
              <a:defRPr sz="1200"/>
            </a:lvl1pPr>
          </a:lstStyle>
          <a:p>
            <a:fld id="{EC1E3754-735B-4EEF-8B4B-BE3B74A9F610}" type="slidenum">
              <a:rPr lang="en-US"/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</p:handoutMaster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</p:bgPr>
    </p:bg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20" compatLnSpc="1" lIns="91440" numCol="1" rIns="91440" tIns="45720" vert="horz" wrap="square">
            <a:prstTxWarp prst="textNoShape"/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4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20" compatLnSpc="1" lIns="91440" numCol="1" rIns="91440" tIns="45720" vert="horz" wrap="square">
            <a:prstTxWarp prst="textNoShape"/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048746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74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20" compatLnSpc="1" lIns="91440" numCol="1" rIns="91440" tIns="45720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74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20" compatLnSpc="1" lIns="91440" numCol="1" rIns="91440" tIns="45720" vert="horz" wrap="square">
            <a:prstTxWarp prst="textNoShape"/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4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20" compatLnSpc="1" lIns="91440" numCol="1" rIns="91440" tIns="45720" vert="horz" wrap="square">
            <a:prstTxWarp prst="textNoShape"/>
          </a:bodyPr>
          <a:lstStyle>
            <a:lvl1pPr algn="r">
              <a:defRPr sz="1200"/>
            </a:lvl1pPr>
          </a:lstStyle>
          <a:p>
            <a:fld id="{3CC70C13-1DA5-4A56-AE28-82F2CF6D768E}" type="slidenum">
              <a:rPr lang="en-US"/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p>
            <a:fld id="{E0BFE1F6-808B-456B-ADFC-7F62845654C9}" type="slidenum">
              <a:rPr lang="en-US"/>
            </a:fld>
            <a:endParaRPr lang="en-US"/>
          </a:p>
        </p:txBody>
      </p:sp>
      <p:sp>
        <p:nvSpPr>
          <p:cNvPr id="1048619" name="Rectangle 2"/>
          <p:cNvSpPr>
            <a:spLocks noChangeAspect="1" noRot="1" noGrp="1" noChangeArrowheads="1" noTextEdit="1"/>
          </p:cNvSpPr>
          <p:nvPr>
            <p:ph type="sldImg"/>
          </p:nvPr>
        </p:nvSpPr>
        <p:spPr/>
      </p:sp>
      <p:sp>
        <p:nvSpPr>
          <p:cNvPr id="10486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title">
  <p:cSld name="Title Slide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1048599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/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anchor="ctr" wrap="none"/>
            <a:p>
              <a:endParaRPr sz="2400" lang="en-US">
                <a:latin typeface="Times New Roman" pitchFamily="18" charset="0"/>
              </a:endParaRPr>
            </a:p>
          </p:txBody>
        </p:sp>
        <p:sp>
          <p:nvSpPr>
            <p:cNvPr id="1048600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/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p>
              <a:pPr algn="l"/>
              <a:endParaRPr sz="2400" lang="en-US">
                <a:latin typeface="Times New Roman" pitchFamily="18" charset="0"/>
              </a:endParaRPr>
            </a:p>
          </p:txBody>
        </p:sp>
        <p:grpSp>
          <p:nvGrpSpPr>
            <p:cNvPr id="46" name="Group 5"/>
            <p:cNvGrpSpPr/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1048601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/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p>
                <a:pPr algn="l"/>
                <a:endParaRPr sz="2400" lang="en-US">
                  <a:latin typeface="Times New Roman" pitchFamily="18" charset="0"/>
                </a:endParaRPr>
              </a:p>
            </p:txBody>
          </p:sp>
          <p:sp>
            <p:nvSpPr>
              <p:cNvPr id="1048602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/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p>
                <a:pPr algn="l"/>
                <a:endParaRPr sz="2400" lang="en-US">
                  <a:latin typeface="Times New Roman" pitchFamily="18" charset="0"/>
                </a:endParaRPr>
              </a:p>
            </p:txBody>
          </p:sp>
          <p:sp>
            <p:nvSpPr>
              <p:cNvPr id="1048603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/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p>
                <a:pPr algn="l"/>
                <a:endParaRPr sz="2400" lang="en-US">
                  <a:latin typeface="Times New Roman" pitchFamily="18" charset="0"/>
                </a:endParaRPr>
              </a:p>
            </p:txBody>
          </p:sp>
          <p:sp>
            <p:nvSpPr>
              <p:cNvPr id="1048604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/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p>
                <a:pPr algn="l"/>
                <a:endParaRPr sz="2400" lang="en-US">
                  <a:latin typeface="Times New Roman" pitchFamily="18" charset="0"/>
                </a:endParaRPr>
              </a:p>
            </p:txBody>
          </p:sp>
          <p:sp>
            <p:nvSpPr>
              <p:cNvPr id="1048605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/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p>
                <a:pPr algn="l"/>
                <a:endParaRPr sz="2400" lang="en-US">
                  <a:latin typeface="Times New Roman" pitchFamily="18" charset="0"/>
                </a:endParaRPr>
              </a:p>
            </p:txBody>
          </p:sp>
          <p:sp>
            <p:nvSpPr>
              <p:cNvPr id="1048606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/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p>
                <a:pPr algn="l"/>
                <a:endParaRPr sz="2400" lang="en-US">
                  <a:latin typeface="Times New Roman" pitchFamily="18" charset="0"/>
                </a:endParaRPr>
              </a:p>
            </p:txBody>
          </p:sp>
          <p:sp>
            <p:nvSpPr>
              <p:cNvPr id="1048607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/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p>
                <a:pPr algn="l"/>
                <a:endParaRPr sz="2400" lang="en-US">
                  <a:latin typeface="Times New Roman" pitchFamily="18" charset="0"/>
                </a:endParaRPr>
              </a:p>
            </p:txBody>
          </p:sp>
          <p:sp>
            <p:nvSpPr>
              <p:cNvPr id="1048608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/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p>
                <a:pPr algn="l"/>
                <a:endParaRPr sz="2400" lang="en-US">
                  <a:latin typeface="Times New Roman" pitchFamily="18" charset="0"/>
                </a:endParaRPr>
              </a:p>
            </p:txBody>
          </p:sp>
          <p:sp>
            <p:nvSpPr>
              <p:cNvPr id="1048609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/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p>
                <a:pPr algn="l"/>
                <a:endParaRPr sz="2400" lang="en-US">
                  <a:latin typeface="Times New Roman" pitchFamily="18" charset="0"/>
                </a:endParaRPr>
              </a:p>
            </p:txBody>
          </p:sp>
          <p:sp>
            <p:nvSpPr>
              <p:cNvPr id="1048610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/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p>
                <a:pPr algn="l"/>
                <a:endParaRPr sz="2400" lang="en-US">
                  <a:latin typeface="Times New Roman" pitchFamily="18" charset="0"/>
                </a:endParaRPr>
              </a:p>
            </p:txBody>
          </p:sp>
        </p:grpSp>
      </p:grpSp>
      <p:sp>
        <p:nvSpPr>
          <p:cNvPr id="1048611" name="Rectangle 16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8400"/>
            <a:ext cx="2133600" cy="457200"/>
          </a:xfrm>
        </p:spPr>
        <p:txBody>
          <a:bodyPr/>
          <a:p>
            <a:endParaRPr lang="en-US"/>
          </a:p>
        </p:txBody>
      </p:sp>
      <p:sp>
        <p:nvSpPr>
          <p:cNvPr id="1048612" name="Rectangle 17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p>
            <a:endParaRPr lang="en-US"/>
          </a:p>
        </p:txBody>
      </p:sp>
      <p:sp>
        <p:nvSpPr>
          <p:cNvPr id="1048613" name="Rectangle 18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p>
            <a:fld id="{772E2D6D-4FC6-4CD9-B57D-18854F96BA29}" type="slidenum">
              <a:rPr lang="en-US"/>
            </a:fld>
            <a:endParaRPr lang="en-US"/>
          </a:p>
        </p:txBody>
      </p:sp>
      <p:sp>
        <p:nvSpPr>
          <p:cNvPr id="1048614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15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indent="0" marL="0">
              <a:buFont typeface="Wingdings" pitchFamily="2" charset="2"/>
              <a:buNone/>
              <a:defRPr sz="3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2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23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endParaRPr lang="en-US"/>
          </a:p>
        </p:txBody>
      </p:sp>
      <p:sp>
        <p:nvSpPr>
          <p:cNvPr id="104862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fld id="{6F68AEA6-F6EA-4E60-9D64-659B4A76C4E6}" type="slidenum">
              <a:rPr lang="en-US"/>
            </a:fld>
            <a:endParaRPr lang="en-US"/>
          </a:p>
        </p:txBody>
      </p:sp>
      <p:sp>
        <p:nvSpPr>
          <p:cNvPr id="1048625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0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/>
            </a:lvl1pPr>
            <a:lvl2pPr indent="0" marL="457200">
              <a:buNone/>
              <a:defRPr sz="1800"/>
            </a:lvl2pPr>
            <a:lvl3pPr indent="0" marL="914400">
              <a:buNone/>
              <a:defRPr sz="1600"/>
            </a:lvl3pPr>
            <a:lvl4pPr indent="0" marL="1371600">
              <a:buNone/>
              <a:defRPr sz="1400"/>
            </a:lvl4pPr>
            <a:lvl5pPr indent="0" marL="1828800">
              <a:buNone/>
              <a:defRPr sz="1400"/>
            </a:lvl5pPr>
            <a:lvl6pPr indent="0" marL="2286000">
              <a:buNone/>
              <a:defRPr sz="1400"/>
            </a:lvl6pPr>
            <a:lvl7pPr indent="0" marL="2743200">
              <a:buNone/>
              <a:defRPr sz="1400"/>
            </a:lvl7pPr>
            <a:lvl8pPr indent="0" marL="3200400">
              <a:buNone/>
              <a:defRPr sz="1400"/>
            </a:lvl8pPr>
            <a:lvl9pPr indent="0" marL="365760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0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endParaRPr lang="en-US"/>
          </a:p>
        </p:txBody>
      </p:sp>
      <p:sp>
        <p:nvSpPr>
          <p:cNvPr id="104870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fld id="{D467BD06-CA9F-4E93-BBEC-C3C0FC58151E}" type="slidenum">
              <a:rPr lang="en-US"/>
            </a:fld>
            <a:endParaRPr lang="en-US"/>
          </a:p>
        </p:txBody>
      </p:sp>
      <p:sp>
        <p:nvSpPr>
          <p:cNvPr id="104870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9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98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99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endParaRPr lang="en-US"/>
          </a:p>
        </p:txBody>
      </p:sp>
      <p:sp>
        <p:nvSpPr>
          <p:cNvPr id="1048700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fld id="{97E1093D-3473-48BA-9272-312FAF79940E}" type="slidenum">
              <a:rPr lang="en-US"/>
            </a:fld>
            <a:endParaRPr lang="en-US"/>
          </a:p>
        </p:txBody>
      </p:sp>
      <p:sp>
        <p:nvSpPr>
          <p:cNvPr id="1048701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3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38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3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40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41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endParaRPr lang="en-US"/>
          </a:p>
        </p:txBody>
      </p:sp>
      <p:sp>
        <p:nvSpPr>
          <p:cNvPr id="1048742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fld id="{0AD2E02F-B00B-4D54-95B9-5ADA0BBEF86F}" type="slidenum">
              <a:rPr lang="en-US"/>
            </a:fld>
            <a:endParaRPr lang="en-US"/>
          </a:p>
        </p:txBody>
      </p:sp>
      <p:sp>
        <p:nvSpPr>
          <p:cNvPr id="1048743" name="Date Placeholder 8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21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endParaRPr lang="en-US"/>
          </a:p>
        </p:txBody>
      </p:sp>
      <p:sp>
        <p:nvSpPr>
          <p:cNvPr id="1048722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fld id="{677026F3-32EA-4A22-BD8A-54A9940703C6}" type="slidenum">
              <a:rPr lang="en-US"/>
            </a:fld>
            <a:endParaRPr lang="en-US"/>
          </a:p>
        </p:txBody>
      </p:sp>
      <p:sp>
        <p:nvSpPr>
          <p:cNvPr id="1048723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7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endParaRPr lang="en-US"/>
          </a:p>
        </p:txBody>
      </p:sp>
      <p:sp>
        <p:nvSpPr>
          <p:cNvPr id="104870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fld id="{59B18505-3FF0-4F3A-B192-9106D7D87F01}" type="slidenum">
              <a:rPr lang="en-US"/>
            </a:fld>
            <a:endParaRPr lang="en-US"/>
          </a:p>
        </p:txBody>
      </p:sp>
      <p:sp>
        <p:nvSpPr>
          <p:cNvPr id="1048709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0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31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32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33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endParaRPr lang="en-US"/>
          </a:p>
        </p:txBody>
      </p:sp>
      <p:sp>
        <p:nvSpPr>
          <p:cNvPr id="1048734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fld id="{7B2DAFDD-4415-49E4-AE70-08972ADC24B5}" type="slidenum">
              <a:rPr lang="en-US"/>
            </a:fld>
            <a:endParaRPr lang="en-US"/>
          </a:p>
        </p:txBody>
      </p:sp>
      <p:sp>
        <p:nvSpPr>
          <p:cNvPr id="1048735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4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25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726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27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endParaRPr lang="en-US"/>
          </a:p>
        </p:txBody>
      </p:sp>
      <p:sp>
        <p:nvSpPr>
          <p:cNvPr id="1048728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fld id="{C52368BC-4BDD-44BB-BB2F-5D6CB2A47217}" type="slidenum">
              <a:rPr lang="en-US"/>
            </a:fld>
            <a:endParaRPr lang="en-US"/>
          </a:p>
        </p:txBody>
      </p:sp>
      <p:sp>
        <p:nvSpPr>
          <p:cNvPr id="1048729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16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17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endParaRPr lang="en-US"/>
          </a:p>
        </p:txBody>
      </p:sp>
      <p:sp>
        <p:nvSpPr>
          <p:cNvPr id="1048718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fld id="{EDE26A83-A51C-4E47-A87C-9139373558DF}" type="slidenum">
              <a:rPr lang="en-US"/>
            </a:fld>
            <a:endParaRPr lang="en-US"/>
          </a:p>
        </p:txBody>
      </p:sp>
      <p:sp>
        <p:nvSpPr>
          <p:cNvPr id="1048719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0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1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12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endParaRPr lang="en-US"/>
          </a:p>
        </p:txBody>
      </p:sp>
      <p:sp>
        <p:nvSpPr>
          <p:cNvPr id="1048713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fld id="{83759FDE-2ADF-416B-8449-7EE5FFA5986C}" type="slidenum">
              <a:rPr lang="en-US"/>
            </a:fld>
            <a:endParaRPr lang="en-US"/>
          </a:p>
        </p:txBody>
      </p:sp>
      <p:sp>
        <p:nvSpPr>
          <p:cNvPr id="1048714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1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92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</a:lvl1pPr>
            <a:lvl2pPr algn="ctr" indent="0" marL="457200">
              <a:buNone/>
            </a:lvl2pPr>
            <a:lvl3pPr algn="ctr" indent="0" marL="914400">
              <a:buNone/>
            </a:lvl3pPr>
            <a:lvl4pPr algn="ctr" indent="0" marL="1371600">
              <a:buNone/>
            </a:lvl4pPr>
            <a:lvl5pPr algn="ctr" indent="0" marL="1828800">
              <a:buNone/>
            </a:lvl5pPr>
            <a:lvl6pPr algn="ctr" indent="0" marL="2286000">
              <a:buNone/>
            </a:lvl6pPr>
            <a:lvl7pPr algn="ctr" indent="0" marL="2743200">
              <a:buNone/>
            </a:lvl7pPr>
            <a:lvl8pPr algn="ctr" indent="0" marL="3200400">
              <a:buNone/>
            </a:lvl8pPr>
            <a:lvl9pPr algn="ctr" indent="0" marL="3657600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69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/>
          </a:p>
        </p:txBody>
      </p:sp>
      <p:sp>
        <p:nvSpPr>
          <p:cNvPr id="104869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9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B956581-42E8-4B0B-A514-DB3EA1554CBA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2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/>
          </a:p>
        </p:txBody>
      </p:sp>
      <p:sp>
        <p:nvSpPr>
          <p:cNvPr id="104865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6CC27F1-0A2F-4DB4-8D38-C57CFC3247C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47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/>
            </a:lvl1pPr>
            <a:lvl2pPr indent="0" marL="457200">
              <a:buNone/>
              <a:defRPr sz="1800"/>
            </a:lvl2pPr>
            <a:lvl3pPr indent="0" marL="914400">
              <a:buNone/>
              <a:defRPr sz="1600"/>
            </a:lvl3pPr>
            <a:lvl4pPr indent="0" marL="1371600">
              <a:buNone/>
              <a:defRPr sz="1400"/>
            </a:lvl4pPr>
            <a:lvl5pPr indent="0" marL="1828800">
              <a:buNone/>
              <a:defRPr sz="1400"/>
            </a:lvl5pPr>
            <a:lvl6pPr indent="0" marL="2286000">
              <a:buNone/>
              <a:defRPr sz="1400"/>
            </a:lvl6pPr>
            <a:lvl7pPr indent="0" marL="2743200">
              <a:buNone/>
              <a:defRPr sz="1400"/>
            </a:lvl7pPr>
            <a:lvl8pPr indent="0" marL="3200400">
              <a:buNone/>
              <a:defRPr sz="1400"/>
            </a:lvl8pPr>
            <a:lvl9pPr indent="0" marL="365760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4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/>
          </a:p>
        </p:txBody>
      </p:sp>
      <p:sp>
        <p:nvSpPr>
          <p:cNvPr id="104864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6F120AE-91A7-4279-B95D-0C5B68E1A03E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70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71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7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/>
          </a:p>
        </p:txBody>
      </p:sp>
      <p:sp>
        <p:nvSpPr>
          <p:cNvPr id="104867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7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55A4AC7-E8A3-4AB3-808A-BE3DA0C00E1D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62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63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6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65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66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/>
          </a:p>
        </p:txBody>
      </p:sp>
      <p:sp>
        <p:nvSpPr>
          <p:cNvPr id="1048667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8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7F73AA6-0A17-4583-8F91-B09AE024A54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76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/>
          </a:p>
        </p:txBody>
      </p:sp>
      <p:sp>
        <p:nvSpPr>
          <p:cNvPr id="1048677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7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66043A5-9B9F-41C2-B3DF-BDB202D105BF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65D6B78-D24F-441F-A7ED-61321168C7E9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5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86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87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8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/>
          </a:p>
        </p:txBody>
      </p:sp>
      <p:sp>
        <p:nvSpPr>
          <p:cNvPr id="104868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9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18CCABD-E11A-4470-A1C4-5775A7A236A0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9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80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81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8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/>
          </a:p>
        </p:txBody>
      </p:sp>
      <p:sp>
        <p:nvSpPr>
          <p:cNvPr id="104868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8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B7FC339-EEF2-4051-880C-6E40D30DEFD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7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/>
          </a:p>
        </p:txBody>
      </p:sp>
      <p:sp>
        <p:nvSpPr>
          <p:cNvPr id="104865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9336D96-E15E-4B64-A3EB-FEE898D6BEA2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42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/>
          </a:p>
        </p:txBody>
      </p:sp>
      <p:sp>
        <p:nvSpPr>
          <p:cNvPr id="104864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A9CDB3D-5C2A-496C-95E2-A1821954984A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</p:bgPr>
    </p:bg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20" compatLnSpc="1" lIns="91440" numCol="1" rIns="91440" tIns="45720" vert="horz" wrap="square">
            <a:prstTxWarp prst="textNoShape"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048586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20" compatLnSpc="1" lIns="91440" numCol="1" rIns="91440" tIns="45720" vert="horz" wrap="square">
            <a:prstTxWarp prst="textNoShape"/>
          </a:bodyPr>
          <a:lstStyle>
            <a:lvl1pPr algn="r">
              <a:defRPr sz="1200">
                <a:latin typeface="Arial Black" pitchFamily="34" charset="0"/>
              </a:defRPr>
            </a:lvl1pPr>
          </a:lstStyle>
          <a:p>
            <a:fld id="{87DFC3E4-13F2-417A-B1A3-FE0222846240}" type="slidenum">
              <a:rPr lang="en-US"/>
            </a:fld>
            <a:endParaRPr lang="en-US"/>
          </a:p>
        </p:txBody>
      </p:sp>
      <p:grpSp>
        <p:nvGrpSpPr>
          <p:cNvPr id="32" name="Group 4"/>
          <p:cNvGrpSpPr/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48587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/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anchor="ctr" wrap="none"/>
            <a:p>
              <a:endParaRPr sz="2400" lang="en-US">
                <a:latin typeface="Times New Roman" pitchFamily="18" charset="0"/>
              </a:endParaRPr>
            </a:p>
          </p:txBody>
        </p:sp>
        <p:sp>
          <p:nvSpPr>
            <p:cNvPr id="1048588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/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p>
              <a:pPr algn="l"/>
              <a:endParaRPr sz="2400" lang="en-US">
                <a:latin typeface="Times New Roman" pitchFamily="18" charset="0"/>
              </a:endParaRPr>
            </a:p>
          </p:txBody>
        </p:sp>
        <p:sp>
          <p:nvSpPr>
            <p:cNvPr id="1048589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/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p>
              <a:pPr algn="l"/>
              <a:endParaRPr lang="en-US">
                <a:solidFill>
                  <a:schemeClr val="hlink"/>
                </a:solidFill>
              </a:endParaRPr>
            </a:p>
          </p:txBody>
        </p:sp>
        <p:sp>
          <p:nvSpPr>
            <p:cNvPr id="1048590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/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p>
              <a:pPr algn="l"/>
              <a:endParaRPr lang="en-US">
                <a:solidFill>
                  <a:schemeClr val="hlink"/>
                </a:solidFill>
              </a:endParaRPr>
            </a:p>
          </p:txBody>
        </p:sp>
        <p:sp>
          <p:nvSpPr>
            <p:cNvPr id="1048591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/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p>
              <a:pPr algn="l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048592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/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p>
              <a:pPr algn="l"/>
              <a:endParaRPr lang="en-US">
                <a:solidFill>
                  <a:schemeClr val="hlink"/>
                </a:solidFill>
              </a:endParaRPr>
            </a:p>
          </p:txBody>
        </p:sp>
        <p:sp>
          <p:nvSpPr>
            <p:cNvPr id="1048593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/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p>
              <a:pPr algn="l"/>
              <a:endParaRPr sz="2400" lang="en-US">
                <a:latin typeface="Times New Roman" pitchFamily="18" charset="0"/>
              </a:endParaRPr>
            </a:p>
          </p:txBody>
        </p:sp>
        <p:sp>
          <p:nvSpPr>
            <p:cNvPr id="1048594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/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p>
              <a:pPr algn="l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048595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/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p>
              <a:pPr algn="l"/>
              <a:endParaRPr lang="en-US">
                <a:solidFill>
                  <a:schemeClr val="accent2"/>
                </a:solidFill>
              </a:endParaRPr>
            </a:p>
          </p:txBody>
        </p:sp>
      </p:grpSp>
      <p:sp>
        <p:nvSpPr>
          <p:cNvPr id="1048596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ctr" anchorCtr="0" bIns="45720" compatLnSpc="1" lIns="91440" numCol="1" rIns="91440" tIns="45720" vert="horz" wrap="square">
            <a:prstTxWarp prst="textNoShape"/>
          </a:bodyPr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48597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20" compatLnSpc="1" lIns="91440" numCol="1" rIns="91440" tIns="45720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598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20" compatLnSpc="1" lIns="91440" numCol="1" rIns="91440" tIns="45720" vert="horz" wrap="square">
            <a:prstTxWarp prst="textNoShape"/>
          </a:bodyPr>
          <a:lstStyle>
            <a:lvl1pPr algn="l">
              <a:defRPr sz="1200"/>
            </a:lvl1pPr>
          </a:lstStyle>
          <a:p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fontAlgn="base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fontAlgn="base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2pPr>
      <a:lvl3pPr algn="l" fontAlgn="base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3pPr>
      <a:lvl4pPr algn="l" fontAlgn="base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4pPr>
      <a:lvl5pPr algn="l" fontAlgn="base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5pPr>
      <a:lvl6pPr algn="l" fontAlgn="base" marL="4572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6pPr>
      <a:lvl7pPr algn="l" fontAlgn="base" marL="9144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7pPr>
      <a:lvl8pPr algn="l" fontAlgn="base" marL="13716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8pPr>
      <a:lvl9pPr algn="l" fontAlgn="base" marL="18288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algn="l" fontAlgn="base" indent="-342900" marL="342900" rtl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algn="l" fontAlgn="base" indent="-285750" marL="742950" rtl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cs typeface="+mn-cs"/>
        </a:defRPr>
      </a:lvl2pPr>
      <a:lvl3pPr algn="l" fontAlgn="base" indent="-228600" marL="1143000" rtl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3pPr>
      <a:lvl4pPr algn="l" fontAlgn="base" indent="-228600" marL="1600200" rtl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cs typeface="+mn-cs"/>
        </a:defRPr>
      </a:lvl4pPr>
      <a:lvl5pPr algn="l" fontAlgn="base" indent="-228600" marL="2057400" rtl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algn="l" fontAlgn="base" indent="-228600" marL="2514600" rtl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algn="l" fontAlgn="base" indent="-228600" marL="2971800" rtl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algn="l" fontAlgn="base" indent="-228600" marL="3429000" rtl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algn="l" fontAlgn="base" indent="-228600" marL="3886200" rtl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</p:bgPr>
    </p:bg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ctr" anchorCtr="0" bIns="45720" compatLnSpc="1" lIns="91440" numCol="1" rIns="91440" tIns="45720" vert="horz" wrap="square">
            <a:prstTxWarp prst="textNoShape"/>
          </a:bodyPr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4857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20" compatLnSpc="1" lIns="91440" numCol="1" rIns="91440" tIns="45720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57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20" compatLnSpc="1" lIns="91440" numCol="1" rIns="91440" tIns="45720" vert="horz" wrap="square">
            <a:prstTxWarp prst="textNoShape"/>
          </a:bodyPr>
          <a:lstStyle>
            <a:lvl1pPr algn="l">
              <a:defRPr sz="1400"/>
            </a:lvl1pPr>
          </a:lstStyle>
          <a:p>
            <a:endParaRPr lang="en-US"/>
          </a:p>
        </p:txBody>
      </p:sp>
      <p:sp>
        <p:nvSpPr>
          <p:cNvPr id="104857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20" compatLnSpc="1" lIns="91440" numCol="1" rIns="91440" tIns="45720" vert="horz" wrap="square">
            <a:prstTxWarp prst="textNoShape"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4858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20" compatLnSpc="1" lIns="91440" numCol="1" rIns="91440" tIns="45720" vert="horz" wrap="square">
            <a:prstTxWarp prst="textNoShape"/>
          </a:bodyPr>
          <a:lstStyle>
            <a:lvl1pPr algn="r">
              <a:defRPr sz="1400"/>
            </a:lvl1pPr>
          </a:lstStyle>
          <a:p>
            <a:fld id="{01D20F36-EF88-40B3-8690-5E8BF3E374DF}" type="slidenum">
              <a:rPr lang="en-US"/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fontAlgn="base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fontAlgn="base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fontAlgn="base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fontAlgn="base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fontAlgn="base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algn="ctr" fontAlgn="base" marL="45720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algn="ctr" fontAlgn="base" marL="91440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algn="ctr" fontAlgn="base" marL="137160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algn="ctr" fontAlgn="base" marL="182880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fontAlgn="base" indent="-342900" marL="342900" rtl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algn="l" fontAlgn="base" indent="-285750" marL="742950" rtl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algn="l" fontAlgn="base" indent="-228600" marL="1143000" rtl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algn="l" fontAlgn="base" indent="-228600" marL="1600200" rtl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algn="l" fontAlgn="base" indent="-228600" marL="2057400" rtl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algn="l" fontAlgn="base" indent="-228600" marL="2514600" rtl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algn="l" fontAlgn="base" indent="-228600" marL="2971800" rtl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algn="l" fontAlgn="base" indent="-228600" marL="3429000" rtl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algn="l" fontAlgn="base" indent="-228600" marL="3886200" rtl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8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3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6" Type="http://schemas.openxmlformats.org/officeDocument/2006/relationships/image" Target="../media/image8.png"/><Relationship Id="rId7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4" descr="IMG-20150917-WA0007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 cstate="print"/>
          <a:srcRect t="26214" b="28155"/>
          <a:stretch>
            <a:fillRect/>
          </a:stretch>
        </p:blipFill>
        <p:spPr bwMode="auto">
          <a:xfrm>
            <a:off x="990600" y="304800"/>
            <a:ext cx="7848600" cy="3581400"/>
          </a:xfrm>
          <a:prstGeom prst="rect"/>
          <a:noFill/>
          <a:ln w="9525">
            <a:noFill/>
            <a:miter lim="800000"/>
            <a:headEnd/>
            <a:tailEnd/>
          </a:ln>
        </p:spPr>
      </p:pic>
      <p:sp>
        <p:nvSpPr>
          <p:cNvPr id="1048584" name="TextBox 4"/>
          <p:cNvSpPr txBox="1"/>
          <p:nvPr/>
        </p:nvSpPr>
        <p:spPr>
          <a:xfrm>
            <a:off x="1752600" y="3834825"/>
            <a:ext cx="7315200" cy="584775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3200" lang="en-US" err="1" smtClean="0"/>
              <a:t>Rajalakshmi</a:t>
            </a:r>
            <a:r>
              <a:rPr dirty="0" sz="3200" lang="en-US" smtClean="0"/>
              <a:t> Institute of Technology</a:t>
            </a:r>
            <a:endParaRPr dirty="0" sz="3200" lang="en-US"/>
          </a:p>
        </p:txBody>
      </p:sp>
    </p:spTree>
  </p:cSld>
  <p:clrMapOvr>
    <a:masterClrMapping/>
  </p:clrMapOvr>
  <p:timing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p>
            <a:pPr algn="ctr"/>
            <a:r>
              <a:rPr b="1" sz="7200" i="1" lang="en-US" u="sng"/>
              <a:t>PEHAL</a:t>
            </a:r>
          </a:p>
        </p:txBody>
      </p:sp>
      <p:sp>
        <p:nvSpPr>
          <p:cNvPr id="1048617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p>
            <a:r>
              <a:rPr sz="3600" i="1" lang="en-US">
                <a:solidFill>
                  <a:schemeClr val="bg2"/>
                </a:solidFill>
              </a:rPr>
              <a:t>A LAUNDRY FACILITY</a:t>
            </a:r>
          </a:p>
        </p:txBody>
      </p:sp>
      <p:pic>
        <p:nvPicPr>
          <p:cNvPr id="2097153" name="Picture 3" descr="laundry-home-page.png"/>
          <p:cNvPicPr>
            <a:picLocks noChangeAspect="1"/>
          </p:cNvPicPr>
          <p:nvPr/>
        </p:nvPicPr>
        <p:blipFill>
          <a:blip xmlns:r="http://schemas.openxmlformats.org/officeDocument/2006/relationships" r:embed="rId1" cstate="print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810000" y="4711390"/>
            <a:ext cx="5105400" cy="2334787"/>
          </a:xfrm>
          <a:prstGeom prst="rect"/>
        </p:spPr>
      </p:pic>
    </p:spTree>
  </p:cSld>
  <p:clrMapOvr>
    <a:masterClrMapping/>
  </p:clrMapOvr>
  <p:timing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09600"/>
            <a:ext cx="8229600" cy="5516563"/>
          </a:xfrm>
        </p:spPr>
        <p:txBody>
          <a:bodyPr/>
          <a:p>
            <a:pPr algn="ctr">
              <a:buNone/>
            </a:pPr>
            <a:endParaRPr b="1" dirty="0" lang="en-US" smtClean="0">
              <a:solidFill>
                <a:srgbClr val="7030A0"/>
              </a:solidFill>
            </a:endParaRPr>
          </a:p>
          <a:p>
            <a:pPr algn="ctr">
              <a:buNone/>
            </a:pPr>
            <a:r>
              <a:rPr b="1" dirty="0" lang="en-US" smtClean="0">
                <a:solidFill>
                  <a:srgbClr val="7030A0"/>
                </a:solidFill>
              </a:rPr>
              <a:t>PEHAL</a:t>
            </a:r>
            <a:r>
              <a:rPr b="1" dirty="0" lang="en-US" smtClean="0"/>
              <a:t> </a:t>
            </a:r>
            <a:r>
              <a:rPr dirty="0" lang="en-US"/>
              <a:t>when translated from </a:t>
            </a:r>
            <a:r>
              <a:rPr b="1" dirty="0" sz="4000" lang="hi-IN" smtClean="0">
                <a:solidFill>
                  <a:srgbClr val="7030A0"/>
                </a:solidFill>
              </a:rPr>
              <a:t>पहल</a:t>
            </a:r>
            <a:r>
              <a:rPr dirty="0" lang="en-US" smtClean="0"/>
              <a:t> </a:t>
            </a:r>
            <a:r>
              <a:rPr dirty="0" lang="en-US"/>
              <a:t>means an initiative.</a:t>
            </a:r>
          </a:p>
          <a:p>
            <a:pPr algn="ctr">
              <a:buFont typeface="Wingdings" pitchFamily="2" charset="2"/>
              <a:buNone/>
            </a:pPr>
            <a:endParaRPr dirty="0" lang="en-US" smtClean="0"/>
          </a:p>
          <a:p>
            <a:pPr algn="ctr">
              <a:buFont typeface="Wingdings" pitchFamily="2" charset="2"/>
              <a:buNone/>
            </a:pPr>
            <a:endParaRPr dirty="0" lang="en-US"/>
          </a:p>
          <a:p>
            <a:pPr algn="ctr">
              <a:buFont typeface="Wingdings" pitchFamily="2" charset="2"/>
              <a:buNone/>
            </a:pPr>
            <a:r>
              <a:rPr dirty="0" lang="en-US" smtClean="0"/>
              <a:t>Our </a:t>
            </a:r>
            <a:r>
              <a:rPr dirty="0" lang="en-US" err="1" smtClean="0"/>
              <a:t>Pehal</a:t>
            </a:r>
            <a:r>
              <a:rPr dirty="0" lang="en-US" smtClean="0"/>
              <a:t> aims </a:t>
            </a:r>
            <a:r>
              <a:rPr dirty="0" lang="en-US"/>
              <a:t>to create a better</a:t>
            </a:r>
            <a:r>
              <a:rPr dirty="0" lang="en-US" smtClean="0"/>
              <a:t>, and a </a:t>
            </a:r>
            <a:r>
              <a:rPr dirty="0" lang="en-US"/>
              <a:t>brighter future. </a:t>
            </a:r>
            <a:endParaRPr dirty="0" lang="en-US" smtClean="0"/>
          </a:p>
          <a:p>
            <a:pPr algn="ctr">
              <a:buFont typeface="Wingdings" pitchFamily="2" charset="2"/>
              <a:buNone/>
            </a:pPr>
            <a:r>
              <a:rPr dirty="0" lang="en-US" smtClean="0"/>
              <a:t>A </a:t>
            </a:r>
            <a:r>
              <a:rPr dirty="0" lang="en-US"/>
              <a:t>future of </a:t>
            </a:r>
            <a:r>
              <a:rPr dirty="0" i="1" lang="en-US">
                <a:solidFill>
                  <a:srgbClr val="7030A0"/>
                </a:solidFill>
              </a:rPr>
              <a:t>promises</a:t>
            </a:r>
            <a:r>
              <a:rPr dirty="0" lang="en-US"/>
              <a:t> instead of </a:t>
            </a:r>
            <a:r>
              <a:rPr dirty="0" i="1" lang="en-US" smtClean="0">
                <a:solidFill>
                  <a:srgbClr val="7030A0"/>
                </a:solidFill>
              </a:rPr>
              <a:t>hope</a:t>
            </a:r>
            <a:r>
              <a:rPr dirty="0" lang="en-US" smtClean="0"/>
              <a:t>.</a:t>
            </a:r>
            <a:endParaRPr dirty="0" lang="en-US"/>
          </a:p>
        </p:txBody>
      </p:sp>
      <p:pic>
        <p:nvPicPr>
          <p:cNvPr id="2097154" name="Picture 2" descr="promise_day_02.png"/>
          <p:cNvPicPr>
            <a:picLocks noChangeAspect="1"/>
          </p:cNvPicPr>
          <p:nvPr/>
        </p:nvPicPr>
        <p:blipFill>
          <a:blip xmlns:r="http://schemas.openxmlformats.org/officeDocument/2006/relationships"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48000" y="5116668"/>
            <a:ext cx="2139303" cy="1741331"/>
          </a:xfrm>
          <a:prstGeom prst="rect"/>
        </p:spPr>
      </p:pic>
      <p:pic>
        <p:nvPicPr>
          <p:cNvPr id="2097155" name="Picture 3" descr="FB-LOGO.jpg"/>
          <p:cNvPicPr>
            <a:picLocks noChangeAspect="1"/>
          </p:cNvPicPr>
          <p:nvPr/>
        </p:nvPicPr>
        <p:blipFill>
          <a:blip xmlns:r="http://schemas.openxmlformats.org/officeDocument/2006/relationships"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20417300">
            <a:off x="6647512" y="1810688"/>
            <a:ext cx="2057400" cy="2057400"/>
          </a:xfrm>
          <a:prstGeom prst="rect"/>
        </p:spPr>
      </p:pic>
    </p:spTree>
  </p:cSld>
  <p:clrMapOvr>
    <a:masterClrMapping/>
  </p:clrMapOvr>
  <p:timing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2" name="Picture 4" descr="0bd45_what-happened-257x300.jpg"/>
          <p:cNvPicPr>
            <a:picLocks noChangeAspect="1"/>
          </p:cNvPicPr>
          <p:nvPr/>
        </p:nvPicPr>
        <p:blipFill>
          <a:blip xmlns:r="http://schemas.openxmlformats.org/officeDocument/2006/relationships"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781800" y="4000500"/>
            <a:ext cx="2447925" cy="2857500"/>
          </a:xfrm>
          <a:prstGeom prst="rect"/>
        </p:spPr>
      </p:pic>
      <p:sp>
        <p:nvSpPr>
          <p:cNvPr id="10486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algn="ctr"/>
            <a:r>
              <a:rPr dirty="0" lang="en-US" smtClean="0">
                <a:solidFill>
                  <a:srgbClr val="7030A0"/>
                </a:solidFill>
              </a:rPr>
              <a:t>The Problem</a:t>
            </a:r>
            <a:endParaRPr dirty="0" lang="en-US">
              <a:solidFill>
                <a:srgbClr val="7030A0"/>
              </a:solidFill>
            </a:endParaRPr>
          </a:p>
        </p:txBody>
      </p:sp>
      <p:sp>
        <p:nvSpPr>
          <p:cNvPr id="10486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8229600" cy="4343400"/>
          </a:xfrm>
        </p:spPr>
        <p:txBody>
          <a:bodyPr/>
          <a:p>
            <a:pPr>
              <a:buFont typeface="Wingdings" pitchFamily="2" charset="2"/>
              <a:buNone/>
            </a:pPr>
            <a:r>
              <a:rPr dirty="0" lang="en-US" smtClean="0"/>
              <a:t>	We </a:t>
            </a:r>
            <a:r>
              <a:rPr dirty="0" lang="en-US"/>
              <a:t>are students who live in </a:t>
            </a:r>
            <a:r>
              <a:rPr dirty="0" lang="en-US" smtClean="0"/>
              <a:t>hostel. We are going </a:t>
            </a:r>
            <a:r>
              <a:rPr dirty="0" lang="en-US"/>
              <a:t>through the same problems that each of the </a:t>
            </a:r>
            <a:r>
              <a:rPr dirty="0" lang="en-US" smtClean="0"/>
              <a:t>hostellers </a:t>
            </a:r>
            <a:r>
              <a:rPr dirty="0" lang="en-US"/>
              <a:t>has ever gone </a:t>
            </a:r>
            <a:r>
              <a:rPr dirty="0" lang="en-US" smtClean="0"/>
              <a:t>through: </a:t>
            </a:r>
            <a:r>
              <a:rPr dirty="0" lang="en-US"/>
              <a:t>food issues, sanitation issues, home sickness</a:t>
            </a:r>
            <a:r>
              <a:rPr dirty="0" lang="en-US" smtClean="0"/>
              <a:t>, and many more to state. But, </a:t>
            </a:r>
            <a:r>
              <a:rPr dirty="0" lang="en-US"/>
              <a:t>there is something else. </a:t>
            </a:r>
            <a:endParaRPr dirty="0" lang="en-US" smtClean="0"/>
          </a:p>
          <a:p>
            <a:pPr>
              <a:buFont typeface="Wingdings" pitchFamily="2" charset="2"/>
              <a:buNone/>
            </a:pPr>
            <a:endParaRPr dirty="0" lang="en-US" smtClean="0"/>
          </a:p>
          <a:p>
            <a:pPr algn="ctr">
              <a:buFont typeface="Wingdings" pitchFamily="2" charset="2"/>
              <a:buNone/>
            </a:pPr>
            <a:r>
              <a:rPr dirty="0" lang="en-US" smtClean="0"/>
              <a:t>We </a:t>
            </a:r>
            <a:r>
              <a:rPr dirty="0" lang="en-US"/>
              <a:t>also have a </a:t>
            </a:r>
            <a:r>
              <a:rPr dirty="0" lang="en-US" smtClean="0">
                <a:solidFill>
                  <a:srgbClr val="C00000"/>
                </a:solidFill>
              </a:rPr>
              <a:t>major issue</a:t>
            </a:r>
            <a:r>
              <a:rPr dirty="0" lang="en-US" smtClean="0"/>
              <a:t>.</a:t>
            </a:r>
            <a:endParaRPr dirty="0" lang="en-US"/>
          </a:p>
        </p:txBody>
      </p:sp>
    </p:spTree>
  </p:cSld>
  <p:clrMapOvr>
    <a:masterClrMapping/>
  </p:clrMapOvr>
  <p:timing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3" name="Content Placeholder 3" descr="82173223.jpg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0" y="-2362200"/>
            <a:ext cx="9144000" cy="10363200"/>
          </a:xfrm>
        </p:spPr>
      </p:pic>
      <p:sp>
        <p:nvSpPr>
          <p:cNvPr id="1048639" name="TextBox 4"/>
          <p:cNvSpPr txBox="1"/>
          <p:nvPr/>
        </p:nvSpPr>
        <p:spPr>
          <a:xfrm>
            <a:off x="609600" y="115669"/>
            <a:ext cx="8077200" cy="646331"/>
          </a:xfrm>
          <a:prstGeom prst="rect"/>
          <a:noFill/>
        </p:spPr>
        <p:txBody>
          <a:bodyPr rtlCol="0" wrap="square">
            <a:spAutoFit/>
          </a:bodyPr>
          <a:p>
            <a:r>
              <a:rPr b="1" dirty="0" sz="3600" lang="en-US" smtClean="0">
                <a:solidFill>
                  <a:schemeClr val="accent3">
                    <a:lumMod val="75000"/>
                  </a:schemeClr>
                </a:solidFill>
              </a:rPr>
              <a:t>The Laundry Crisis</a:t>
            </a:r>
            <a:endParaRPr b="1" dirty="0" sz="3600" lang="en-US">
              <a:solidFill>
                <a:schemeClr val="accent3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533400"/>
            <a:ext cx="8229600" cy="5592763"/>
          </a:xfrm>
        </p:spPr>
        <p:txBody>
          <a:bodyPr/>
          <a:p>
            <a:pPr>
              <a:buFont typeface="Wingdings" pitchFamily="2" charset="2"/>
              <a:buNone/>
            </a:pPr>
            <a:endParaRPr dirty="0" lang="en-US"/>
          </a:p>
          <a:p>
            <a:pPr>
              <a:buFont typeface="Wingdings" pitchFamily="2" charset="2"/>
              <a:buNone/>
            </a:pPr>
            <a:endParaRPr dirty="0" lang="en-US"/>
          </a:p>
          <a:p>
            <a:pPr>
              <a:buFont typeface="Wingdings" pitchFamily="2" charset="2"/>
              <a:buNone/>
            </a:pPr>
            <a:r>
              <a:rPr dirty="0" lang="en-US"/>
              <a:t>  The charges of the laundry are </a:t>
            </a:r>
            <a:r>
              <a:rPr dirty="0" lang="en-US" smtClean="0"/>
              <a:t>very high and unaffordable by almost every hosteller. </a:t>
            </a:r>
            <a:r>
              <a:rPr dirty="0" lang="en-US"/>
              <a:t>We are charged </a:t>
            </a:r>
            <a:r>
              <a:rPr dirty="0" lang="en-US" smtClean="0"/>
              <a:t>Rs. 40</a:t>
            </a:r>
            <a:r>
              <a:rPr dirty="0" lang="en-US"/>
              <a:t>/- for a </a:t>
            </a:r>
            <a:r>
              <a:rPr dirty="0" lang="en-US" err="1"/>
              <a:t>salwar-kameez</a:t>
            </a:r>
            <a:r>
              <a:rPr dirty="0" lang="en-US"/>
              <a:t> set, which most of us cannot afford. </a:t>
            </a:r>
            <a:r>
              <a:rPr dirty="0" lang="en-US" smtClean="0"/>
              <a:t>This happens to be the minimum laundry cost in most of the colleges in the city.</a:t>
            </a:r>
            <a:endParaRPr dirty="0" lang="en-US"/>
          </a:p>
        </p:txBody>
      </p:sp>
      <p:pic>
        <p:nvPicPr>
          <p:cNvPr id="2097161" name="Picture 2" descr="sad_face.jpg"/>
          <p:cNvPicPr>
            <a:picLocks noChangeAspect="1"/>
          </p:cNvPicPr>
          <p:nvPr/>
        </p:nvPicPr>
        <p:blipFill>
          <a:blip xmlns:r="http://schemas.openxmlformats.org/officeDocument/2006/relationships"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943600" y="4800600"/>
            <a:ext cx="2057400" cy="2057400"/>
          </a:xfrm>
          <a:prstGeom prst="rect"/>
        </p:spPr>
      </p:pic>
    </p:spTree>
  </p:cSld>
  <p:clrMapOvr>
    <a:masterClrMapping/>
  </p:clrMapOvr>
  <p:timing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09600"/>
            <a:ext cx="8229600" cy="5668963"/>
          </a:xfrm>
        </p:spPr>
        <p:txBody>
          <a:bodyPr/>
          <a:p>
            <a:pPr>
              <a:buFont typeface="Wingdings" pitchFamily="2" charset="2"/>
              <a:buNone/>
            </a:pPr>
            <a:r>
              <a:rPr dirty="0" lang="en-US"/>
              <a:t>   We have also identified another problem, a completely different one. Women on a daily basis are subjected to financial crisis,  domestic violence, abuse, etc.</a:t>
            </a:r>
          </a:p>
          <a:p>
            <a:pPr>
              <a:buFont typeface="Wingdings" pitchFamily="2" charset="2"/>
              <a:buNone/>
            </a:pPr>
            <a:endParaRPr dirty="0" lang="en-US"/>
          </a:p>
          <a:p>
            <a:pPr>
              <a:buFont typeface="Wingdings" pitchFamily="2" charset="2"/>
              <a:buNone/>
            </a:pPr>
            <a:r>
              <a:rPr dirty="0" lang="en-US"/>
              <a:t>   It is just because they do not know another alternative. They do not believe they can fend off for themselves without any help. </a:t>
            </a:r>
          </a:p>
          <a:p>
            <a:pPr>
              <a:buFont typeface="Wingdings" pitchFamily="2" charset="2"/>
              <a:buNone/>
            </a:pPr>
            <a:endParaRPr dirty="0" lang="en-US"/>
          </a:p>
          <a:p>
            <a:pPr>
              <a:buFont typeface="Wingdings" pitchFamily="2" charset="2"/>
              <a:buNone/>
            </a:pPr>
            <a:r>
              <a:rPr dirty="0" lang="en-US"/>
              <a:t>    We give them a promise and an escape.</a:t>
            </a:r>
          </a:p>
        </p:txBody>
      </p:sp>
    </p:spTree>
  </p:cSld>
  <p:clrMapOvr>
    <a:masterClrMapping/>
  </p:clrMapOvr>
  <p:timing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p>
            <a:pPr algn="ctr"/>
            <a:r>
              <a:rPr dirty="0" lang="en-US" smtClean="0">
                <a:solidFill>
                  <a:srgbClr val="7030A0"/>
                </a:solidFill>
              </a:rPr>
              <a:t>The Solution</a:t>
            </a:r>
            <a:endParaRPr dirty="0" lang="en-US">
              <a:solidFill>
                <a:srgbClr val="7030A0"/>
              </a:solidFill>
            </a:endParaRPr>
          </a:p>
        </p:txBody>
      </p:sp>
      <p:sp>
        <p:nvSpPr>
          <p:cNvPr id="1048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3886200"/>
          </a:xfrm>
        </p:spPr>
        <p:txBody>
          <a:bodyPr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dirty="0" lang="en-US"/>
              <a:t>   </a:t>
            </a:r>
            <a:r>
              <a:rPr dirty="0" lang="en-US" smtClean="0"/>
              <a:t>We learnt that the women wanted to earn their own bread and support their families.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dirty="0" lang="en-US" smtClean="0"/>
              <a:t>   After </a:t>
            </a:r>
            <a:r>
              <a:rPr dirty="0" lang="en-US"/>
              <a:t>closely analyzing the </a:t>
            </a:r>
            <a:r>
              <a:rPr dirty="0" lang="en-US" smtClean="0"/>
              <a:t>two </a:t>
            </a:r>
            <a:r>
              <a:rPr dirty="0" lang="en-US"/>
              <a:t>problems we came up with a permanent solution. </a:t>
            </a:r>
            <a:endParaRPr dirty="0" lang="en-US" smtClean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dirty="0" lang="en-US" smtClean="0"/>
              <a:t> </a:t>
            </a:r>
            <a:r>
              <a:rPr dirty="0" lang="en-US" smtClean="0"/>
              <a:t>  </a:t>
            </a:r>
            <a:endParaRPr dirty="0" lang="en-US"/>
          </a:p>
        </p:txBody>
      </p:sp>
      <p:graphicFrame>
        <p:nvGraphicFramePr>
          <p:cNvPr id="4194304" name="Diagram 3"/>
          <p:cNvGraphicFramePr>
            <a:graphicFrameLocks/>
          </p:cNvGraphicFramePr>
          <p:nvPr/>
        </p:nvGraphicFramePr>
        <p:xfrm>
          <a:off x="2514600" y="3352800"/>
          <a:ext cx="4191000" cy="210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1" r:qs="rId5" r:cs="rId4"/>
          </a:graphicData>
        </a:graphic>
      </p:graphicFrame>
      <p:pic>
        <p:nvPicPr>
          <p:cNvPr id="2097156" name="Picture 4" descr="fsolution.png"/>
          <p:cNvPicPr>
            <a:picLocks noChangeAspect="1"/>
          </p:cNvPicPr>
          <p:nvPr/>
        </p:nvPicPr>
        <p:blipFill>
          <a:blip xmlns:r="http://schemas.openxmlformats.org/officeDocument/2006/relationships" r:embed="rId6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0" y="4572000"/>
            <a:ext cx="2496844" cy="2286000"/>
          </a:xfrm>
          <a:prstGeom prst="rect"/>
        </p:spPr>
      </p:pic>
    </p:spTree>
  </p:cSld>
  <p:clrMapOvr>
    <a:masterClrMapping/>
  </p:clrMapOvr>
  <p:timing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533400"/>
            <a:ext cx="8229600" cy="5592763"/>
          </a:xfrm>
        </p:spPr>
        <p:txBody>
          <a:bodyPr/>
          <a:p>
            <a:pPr>
              <a:buFont typeface="Wingdings" pitchFamily="2" charset="2"/>
              <a:buNone/>
            </a:pPr>
            <a:r>
              <a:rPr dirty="0" lang="en-US"/>
              <a:t> </a:t>
            </a:r>
            <a:r>
              <a:rPr dirty="0" lang="en-US" smtClean="0"/>
              <a:t>   </a:t>
            </a:r>
            <a:r>
              <a:rPr dirty="0" lang="en-US"/>
              <a:t>We aim to provide laundry facilities at the most affordable rates in the hostel, meanwhile providing around </a:t>
            </a:r>
            <a:r>
              <a:rPr b="1" dirty="0" lang="en-US">
                <a:solidFill>
                  <a:srgbClr val="7030A0"/>
                </a:solidFill>
              </a:rPr>
              <a:t>10 </a:t>
            </a:r>
            <a:r>
              <a:rPr b="1" dirty="0" lang="en-US" smtClean="0">
                <a:solidFill>
                  <a:srgbClr val="7030A0"/>
                </a:solidFill>
              </a:rPr>
              <a:t>under-privileged women </a:t>
            </a:r>
            <a:r>
              <a:rPr b="1" dirty="0" lang="en-US">
                <a:solidFill>
                  <a:srgbClr val="7030A0"/>
                </a:solidFill>
              </a:rPr>
              <a:t>a chance to stand on their own feet</a:t>
            </a:r>
            <a:r>
              <a:rPr dirty="0" lang="en-US"/>
              <a:t> by presenting them with </a:t>
            </a:r>
            <a:r>
              <a:rPr dirty="0" lang="en-US" smtClean="0"/>
              <a:t>an </a:t>
            </a:r>
            <a:r>
              <a:rPr dirty="0" lang="en-US"/>
              <a:t>opportunity to become masters of their own destinies.</a:t>
            </a:r>
          </a:p>
        </p:txBody>
      </p:sp>
      <p:pic>
        <p:nvPicPr>
          <p:cNvPr id="2097157" name="Picture 2" descr="Womens-groups_taken-from-womensandgirlsorgau-_resized-751x275.jpeg"/>
          <p:cNvPicPr>
            <a:picLocks noChangeAspect="1"/>
          </p:cNvPicPr>
          <p:nvPr/>
        </p:nvPicPr>
        <p:blipFill>
          <a:blip xmlns:r="http://schemas.openxmlformats.org/officeDocument/2006/relationships" r:embed="rId1" cstate="print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4238625"/>
            <a:ext cx="9144000" cy="2619375"/>
          </a:xfrm>
          <a:prstGeom prst="rect"/>
        </p:spPr>
      </p:pic>
    </p:spTree>
  </p:cSld>
  <p:clrMapOvr>
    <a:masterClrMapping/>
  </p:clrMapOvr>
  <p:timing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8" name="Picture 3" descr="Trend-Graph-ThinkStock.jpg"/>
          <p:cNvPicPr>
            <a:picLocks noChangeAspect="1"/>
          </p:cNvPicPr>
          <p:nvPr/>
        </p:nvPicPr>
        <p:blipFill>
          <a:blip xmlns:r="http://schemas.openxmlformats.org/officeDocument/2006/relationships"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600200" y="228600"/>
            <a:ext cx="4874765" cy="6858000"/>
          </a:xfrm>
          <a:prstGeom prst="rect"/>
        </p:spPr>
      </p:pic>
      <p:sp>
        <p:nvSpPr>
          <p:cNvPr id="10486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algn="ctr"/>
            <a:r>
              <a:rPr dirty="0" lang="en-US" smtClean="0">
                <a:solidFill>
                  <a:srgbClr val="7030A0"/>
                </a:solidFill>
              </a:rPr>
              <a:t>Present Trends</a:t>
            </a:r>
            <a:endParaRPr dirty="0" lang="en-US">
              <a:solidFill>
                <a:srgbClr val="7030A0"/>
              </a:solidFill>
            </a:endParaRPr>
          </a:p>
        </p:txBody>
      </p:sp>
      <p:sp>
        <p:nvSpPr>
          <p:cNvPr id="10486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dirty="0" sz="2400" lang="en-US"/>
              <a:t>    According to the reports, when both the girls and boys hostel </a:t>
            </a:r>
            <a:r>
              <a:rPr dirty="0" sz="2400" lang="en-US" smtClean="0"/>
              <a:t>in </a:t>
            </a:r>
            <a:r>
              <a:rPr dirty="0" sz="2400" lang="en-US"/>
              <a:t>a college are taken into consideration, the revenues generated in one month: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dirty="0" sz="2400" lang="en-US"/>
              <a:t>    </a:t>
            </a:r>
            <a:endParaRPr dirty="0" sz="2400" lang="en-US" smtClean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dirty="0" sz="2400" lang="en-US"/>
              <a:t>	</a:t>
            </a:r>
            <a:r>
              <a:rPr dirty="0" sz="2400" lang="en-US" smtClean="0"/>
              <a:t>EARNINGS </a:t>
            </a:r>
            <a:r>
              <a:rPr dirty="0" sz="2400" lang="en-US"/>
              <a:t>OF EACH WASHER, when we employ 20 washers would be around Rs. </a:t>
            </a:r>
            <a:r>
              <a:rPr b="1" dirty="0" sz="2400" lang="en-US"/>
              <a:t>5</a:t>
            </a:r>
            <a:r>
              <a:rPr b="1" dirty="0" sz="2400" lang="en-US"/>
              <a:t>,</a:t>
            </a:r>
            <a:r>
              <a:rPr b="1" dirty="0" sz="2400" lang="en-US"/>
              <a:t>000/-</a:t>
            </a:r>
            <a:endParaRPr dirty="0" sz="2400" lang="en-US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dirty="0" sz="2400" lang="en-US"/>
              <a:t>    The cost that has to be re-invested into the business (washing powder, buckets, brushes</a:t>
            </a:r>
            <a:r>
              <a:rPr dirty="0" sz="2400" lang="en-US" smtClean="0"/>
              <a:t>):  </a:t>
            </a:r>
            <a:r>
              <a:rPr b="1" dirty="0" sz="2400" lang="en-US"/>
              <a:t>Rs. </a:t>
            </a:r>
            <a:r>
              <a:rPr b="1" dirty="0" sz="2400" lang="en-US"/>
              <a:t>2</a:t>
            </a:r>
            <a:r>
              <a:rPr b="1" dirty="0" sz="2400" lang="en-US"/>
              <a:t>,</a:t>
            </a:r>
            <a:r>
              <a:rPr b="1" dirty="0" sz="2400" lang="en-US"/>
              <a:t>000/- </a:t>
            </a:r>
            <a:endParaRPr altLang="en-US" lang="zh-CN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dirty="0" sz="2400" lang="en-US"/>
              <a:t>    The net PROFIT of the </a:t>
            </a:r>
            <a:r>
              <a:rPr dirty="0" sz="2400" lang="en-US" smtClean="0"/>
              <a:t>organization: </a:t>
            </a:r>
            <a:r>
              <a:rPr b="1" dirty="0" sz="2400" lang="en-US"/>
              <a:t>Rs. </a:t>
            </a:r>
            <a:r>
              <a:rPr b="1" dirty="0" sz="2400" lang="en-US"/>
              <a:t>6</a:t>
            </a:r>
            <a:r>
              <a:rPr b="1" dirty="0" sz="2400" lang="en-US"/>
              <a:t>,</a:t>
            </a:r>
            <a:r>
              <a:rPr b="1" dirty="0" sz="2400" lang="en-US"/>
              <a:t>0</a:t>
            </a:r>
            <a:r>
              <a:rPr b="1" dirty="0" sz="2400" lang="en-US"/>
              <a:t>00/-</a:t>
            </a:r>
            <a:r>
              <a:rPr dirty="0" sz="2400" lang="en-US"/>
              <a:t> </a:t>
            </a:r>
            <a:endParaRPr altLang="en-US" lang="zh-CN"/>
          </a:p>
        </p:txBody>
      </p:sp>
    </p:spTree>
  </p:cSld>
  <p:clrMapOvr>
    <a:masterClrMapping/>
  </p:clrMapOvr>
  <p:timing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5135563"/>
          </a:xfrm>
        </p:spPr>
        <p:txBody>
          <a:bodyPr/>
          <a:p>
            <a:pPr>
              <a:buFont typeface="Wingdings" pitchFamily="2" charset="2"/>
              <a:buNone/>
            </a:pPr>
            <a:endParaRPr dirty="0" lang="en-US"/>
          </a:p>
          <a:p>
            <a:pPr>
              <a:buFont typeface="Wingdings" pitchFamily="2" charset="2"/>
              <a:buNone/>
            </a:pPr>
            <a:endParaRPr dirty="0" lang="en-US"/>
          </a:p>
          <a:p>
            <a:pPr>
              <a:buFont typeface="Wingdings" pitchFamily="2" charset="2"/>
              <a:buNone/>
            </a:pPr>
            <a:endParaRPr dirty="0" lang="en-US"/>
          </a:p>
          <a:p>
            <a:pPr>
              <a:buFont typeface="Wingdings" pitchFamily="2" charset="2"/>
              <a:buNone/>
            </a:pPr>
            <a:r>
              <a:rPr dirty="0" lang="en-US"/>
              <a:t>   These figures were calculated </a:t>
            </a:r>
            <a:r>
              <a:rPr dirty="0" lang="en-US" smtClean="0"/>
              <a:t>keeping both </a:t>
            </a:r>
            <a:r>
              <a:rPr dirty="0" lang="en-US"/>
              <a:t>the </a:t>
            </a:r>
            <a:r>
              <a:rPr b="1" dirty="0" lang="en-US">
                <a:solidFill>
                  <a:srgbClr val="7030A0"/>
                </a:solidFill>
              </a:rPr>
              <a:t>students</a:t>
            </a:r>
            <a:r>
              <a:rPr dirty="0" lang="en-US"/>
              <a:t> and the </a:t>
            </a:r>
            <a:r>
              <a:rPr b="1" dirty="0" lang="en-US">
                <a:solidFill>
                  <a:srgbClr val="7030A0"/>
                </a:solidFill>
              </a:rPr>
              <a:t>workers</a:t>
            </a:r>
            <a:r>
              <a:rPr dirty="0" lang="en-US"/>
              <a:t> in mind and making our rate card very affordable and appealing.</a:t>
            </a:r>
          </a:p>
        </p:txBody>
      </p:sp>
      <p:pic>
        <p:nvPicPr>
          <p:cNvPr id="2097159" name="Picture 2" descr="smile-09.jpg"/>
          <p:cNvPicPr>
            <a:picLocks noChangeAspect="1"/>
          </p:cNvPicPr>
          <p:nvPr/>
        </p:nvPicPr>
        <p:blipFill>
          <a:blip xmlns:r="http://schemas.openxmlformats.org/officeDocument/2006/relationships" r:embed="rId1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172200" y="5105400"/>
            <a:ext cx="1614487" cy="1614487"/>
          </a:xfrm>
          <a:prstGeom prst="rect"/>
        </p:spPr>
      </p:pic>
    </p:spTree>
  </p:cSld>
  <p:clrMapOvr>
    <a:masterClrMapping/>
  </p:clrMapOvr>
  <p:timing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0" name="Picture 3" descr="Growth-Arrow.jpg"/>
          <p:cNvPicPr>
            <a:picLocks noChangeAspect="1"/>
          </p:cNvPicPr>
          <p:nvPr/>
        </p:nvPicPr>
        <p:blipFill>
          <a:blip xmlns:r="http://schemas.openxmlformats.org/officeDocument/2006/relationships"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1219200"/>
            <a:ext cx="5642871" cy="5638800"/>
          </a:xfrm>
          <a:prstGeom prst="rect"/>
        </p:spPr>
      </p:pic>
      <p:sp>
        <p:nvSpPr>
          <p:cNvPr id="1048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algn="ctr"/>
            <a:r>
              <a:rPr dirty="0" lang="en-US" smtClean="0">
                <a:solidFill>
                  <a:srgbClr val="7030A0"/>
                </a:solidFill>
              </a:rPr>
              <a:t>Expansion and Sustainability</a:t>
            </a:r>
            <a:endParaRPr dirty="0" lang="en-US">
              <a:solidFill>
                <a:srgbClr val="7030A0"/>
              </a:solidFill>
            </a:endParaRPr>
          </a:p>
        </p:txBody>
      </p:sp>
      <p:sp>
        <p:nvSpPr>
          <p:cNvPr id="1048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dirty="0" sz="2400" lang="en-US"/>
              <a:t>    According to the shown trend, we plan to expand to other colleges on the Bangalore highway belt, after a year of our initiation when we have a stable profit base and understand the market trends.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dirty="0" sz="2400" lang="en-US"/>
              <a:t>    Our next goal is to expand PEHAL to all the colleges in our belt, making it a high revenue generating business.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dirty="0" sz="2400" lang="en-US"/>
              <a:t>    Eventually we wish to see, PEHAL as a successful dry cleaning start-up, with its branches all over Chennai.</a:t>
            </a:r>
          </a:p>
        </p:txBody>
      </p:sp>
    </p:spTree>
  </p:cSld>
  <p:clrMapOvr>
    <a:masterClrMapping/>
  </p:clrMapOvr>
  <p:timing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p>
            <a:pPr>
              <a:buFont typeface="Wingdings" pitchFamily="2" charset="2"/>
              <a:buNone/>
            </a:pPr>
            <a:endParaRPr dirty="0" lang="en-US" smtClean="0"/>
          </a:p>
          <a:p>
            <a:pPr algn="ctr">
              <a:buFont typeface="Wingdings" pitchFamily="2" charset="2"/>
              <a:buNone/>
            </a:pPr>
            <a:r>
              <a:rPr dirty="0" sz="7200" lang="en-US" smtClean="0">
                <a:solidFill>
                  <a:srgbClr val="7030A0"/>
                </a:solidFill>
              </a:rPr>
              <a:t>Thank You</a:t>
            </a:r>
            <a:endParaRPr dirty="0" sz="7200" lang="en-US">
              <a:solidFill>
                <a:srgbClr val="7030A0"/>
              </a:solidFill>
            </a:endParaRPr>
          </a:p>
        </p:txBody>
      </p:sp>
    </p:spTree>
  </p:cSld>
  <p:clrMapOvr>
    <a:masterClrMapping/>
  </p:clrMapOvr>
  <p:timing/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ah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anchor="t" anchorCtr="0" bIns="45720" compatLnSpc="1" lIns="91440" numCol="1" rIns="91440" tIns="45720" vert="horz" wrap="square">
        <a:prstTxWarp prst="textNoShape"/>
      </a:bodyPr>
      <a:lstStyle>
        <a:defPPr algn="ctr" defTabSz="914400" eaLnBrk="1" fontAlgn="base" hangingPunct="1" indent="0" latinLnBrk="0" marL="0" marR="0" rtl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baseline="0" b="0" cap="none" sz="1800" i="0" kumimoji="0" lang="en-US" normalizeH="0" strike="noStrike" u="none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ah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anchor="t" anchorCtr="0" bIns="45720" compatLnSpc="1" lIns="91440" numCol="1" rIns="91440" tIns="45720" vert="horz" wrap="square">
        <a:prstTxWarp prst="textNoShape"/>
      </a:bodyPr>
      <a:lstStyle>
        <a:defPPr algn="ctr" defTabSz="914400" eaLnBrk="1" fontAlgn="base" hangingPunct="1" indent="0" latinLnBrk="0" marL="0" marR="0" rtl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baseline="0" b="0" cap="none" sz="1800" i="0" kumimoji="0" lang="en-US" normalizeH="0" strike="noStrike" u="none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ah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anchor="t" anchorCtr="0" bIns="45720" compatLnSpc="1" lIns="91440" numCol="1" rIns="91440" tIns="45720" vert="horz" wrap="square">
        <a:prstTxWarp prst="textNoShape"/>
      </a:bodyPr>
      <a:lstStyle>
        <a:defPPr algn="ctr" defTabSz="914400" eaLnBrk="1" fontAlgn="base" hangingPunct="1" indent="0" latinLnBrk="0" marL="0" marR="0" rtl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baseline="0" b="0" cap="none" sz="1800" i="0" kumimoji="0" lang="en-US" normalizeH="0" strike="noStrike" u="none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ah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anchor="t" anchorCtr="0" bIns="45720" compatLnSpc="1" lIns="91440" numCol="1" rIns="91440" tIns="45720" vert="horz" wrap="square">
        <a:prstTxWarp prst="textNoShape"/>
      </a:bodyPr>
      <a:lstStyle>
        <a:defPPr algn="ctr" defTabSz="914400" eaLnBrk="1" fontAlgn="base" hangingPunct="1" indent="0" latinLnBrk="0" marL="0" marR="0" rtl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baseline="0" b="0" cap="none" sz="1800" i="0" kumimoji="0" lang="en-US" normalizeH="0" strike="noStrike" u="none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PEHAL</dc:title>
  <dc:creator>S Singh</dc:creator>
  <cp:lastModifiedBy>Shameem</cp:lastModifiedBy>
  <dcterms:created xsi:type="dcterms:W3CDTF">2016-02-04T08:29:43Z</dcterms:created>
  <dcterms:modified xsi:type="dcterms:W3CDTF">2016-04-03T15:18:14Z</dcterms:modified>
</cp:coreProperties>
</file>